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287000" cy="53848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  <p:embeddedFont>
      <p:font typeface="League Spartan" panose="020B0604020202020204" charset="0"/>
      <p:regular r:id="rId17"/>
    </p:embeddedFont>
    <p:embeddedFont>
      <p:font typeface="Montserrat" panose="020B0604020202020204" charset="0"/>
      <p:regular r:id="rId18"/>
    </p:embeddedFont>
    <p:embeddedFont>
      <p:font typeface="Montserra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26" d="100"/>
          <a:sy n="126" d="100"/>
        </p:scale>
        <p:origin x="74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27473"/>
            <a:ext cx="10287000" cy="463677"/>
            <a:chOff x="0" y="0"/>
            <a:chExt cx="5169753" cy="233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233022"/>
            </a:xfrm>
            <a:custGeom>
              <a:avLst/>
              <a:gdLst/>
              <a:ahLst/>
              <a:cxnLst/>
              <a:rect l="l" t="t" r="r" b="b"/>
              <a:pathLst>
                <a:path w="5169753" h="233022">
                  <a:moveTo>
                    <a:pt x="0" y="0"/>
                  </a:moveTo>
                  <a:lnTo>
                    <a:pt x="5169753" y="0"/>
                  </a:lnTo>
                  <a:lnTo>
                    <a:pt x="5169753" y="233022"/>
                  </a:lnTo>
                  <a:lnTo>
                    <a:pt x="0" y="2330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5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0" cy="2539588"/>
            <a:chOff x="0" y="0"/>
            <a:chExt cx="5169753" cy="1276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1276275"/>
            </a:xfrm>
            <a:custGeom>
              <a:avLst/>
              <a:gdLst/>
              <a:ahLst/>
              <a:cxnLst/>
              <a:rect l="l" t="t" r="r" b="b"/>
              <a:pathLst>
                <a:path w="5169753" h="1276275">
                  <a:moveTo>
                    <a:pt x="0" y="0"/>
                  </a:moveTo>
                  <a:lnTo>
                    <a:pt x="5169753" y="0"/>
                  </a:lnTo>
                  <a:lnTo>
                    <a:pt x="5169753" y="1276275"/>
                  </a:lnTo>
                  <a:lnTo>
                    <a:pt x="0" y="12762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1295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00468" y="200532"/>
            <a:ext cx="956040" cy="343825"/>
            <a:chOff x="0" y="0"/>
            <a:chExt cx="1274720" cy="458433"/>
          </a:xfrm>
        </p:grpSpPr>
        <p:sp>
          <p:nvSpPr>
            <p:cNvPr id="9" name="Freeform 9"/>
            <p:cNvSpPr/>
            <p:nvPr/>
          </p:nvSpPr>
          <p:spPr>
            <a:xfrm>
              <a:off x="375415" y="26673"/>
              <a:ext cx="899305" cy="431760"/>
            </a:xfrm>
            <a:custGeom>
              <a:avLst/>
              <a:gdLst/>
              <a:ahLst/>
              <a:cxnLst/>
              <a:rect l="l" t="t" r="r" b="b"/>
              <a:pathLst>
                <a:path w="899305" h="431760">
                  <a:moveTo>
                    <a:pt x="0" y="0"/>
                  </a:moveTo>
                  <a:lnTo>
                    <a:pt x="899305" y="0"/>
                  </a:lnTo>
                  <a:lnTo>
                    <a:pt x="899305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91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85934" cy="431760"/>
            </a:xfrm>
            <a:custGeom>
              <a:avLst/>
              <a:gdLst/>
              <a:ahLst/>
              <a:cxnLst/>
              <a:rect l="l" t="t" r="r" b="b"/>
              <a:pathLst>
                <a:path w="385934" h="431760">
                  <a:moveTo>
                    <a:pt x="0" y="0"/>
                  </a:moveTo>
                  <a:lnTo>
                    <a:pt x="385934" y="0"/>
                  </a:lnTo>
                  <a:lnTo>
                    <a:pt x="385934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33020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05679" y="196940"/>
            <a:ext cx="1550158" cy="351008"/>
          </a:xfrm>
          <a:custGeom>
            <a:avLst/>
            <a:gdLst/>
            <a:ahLst/>
            <a:cxnLst/>
            <a:rect l="l" t="t" r="r" b="b"/>
            <a:pathLst>
              <a:path w="1550158" h="351008">
                <a:moveTo>
                  <a:pt x="0" y="0"/>
                </a:moveTo>
                <a:lnTo>
                  <a:pt x="1550158" y="0"/>
                </a:lnTo>
                <a:lnTo>
                  <a:pt x="1550158" y="351008"/>
                </a:lnTo>
                <a:lnTo>
                  <a:pt x="0" y="35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203" b="-3555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80076" y="139934"/>
            <a:ext cx="721155" cy="471903"/>
          </a:xfrm>
          <a:custGeom>
            <a:avLst/>
            <a:gdLst/>
            <a:ahLst/>
            <a:cxnLst/>
            <a:rect l="l" t="t" r="r" b="b"/>
            <a:pathLst>
              <a:path w="721155" h="471903">
                <a:moveTo>
                  <a:pt x="0" y="0"/>
                </a:moveTo>
                <a:lnTo>
                  <a:pt x="721155" y="0"/>
                </a:lnTo>
                <a:lnTo>
                  <a:pt x="721155" y="471903"/>
                </a:lnTo>
                <a:lnTo>
                  <a:pt x="0" y="47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81" b="-3433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031651" y="243629"/>
            <a:ext cx="1117453" cy="285865"/>
          </a:xfrm>
          <a:custGeom>
            <a:avLst/>
            <a:gdLst/>
            <a:ahLst/>
            <a:cxnLst/>
            <a:rect l="l" t="t" r="r" b="b"/>
            <a:pathLst>
              <a:path w="1117453" h="285865">
                <a:moveTo>
                  <a:pt x="0" y="0"/>
                </a:moveTo>
                <a:lnTo>
                  <a:pt x="1117453" y="0"/>
                </a:lnTo>
                <a:lnTo>
                  <a:pt x="1117453" y="285865"/>
                </a:lnTo>
                <a:lnTo>
                  <a:pt x="0" y="28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385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43143" y="203822"/>
            <a:ext cx="1101202" cy="344126"/>
          </a:xfrm>
          <a:custGeom>
            <a:avLst/>
            <a:gdLst/>
            <a:ahLst/>
            <a:cxnLst/>
            <a:rect l="l" t="t" r="r" b="b"/>
            <a:pathLst>
              <a:path w="1101202" h="344126">
                <a:moveTo>
                  <a:pt x="0" y="0"/>
                </a:moveTo>
                <a:lnTo>
                  <a:pt x="1101202" y="0"/>
                </a:lnTo>
                <a:lnTo>
                  <a:pt x="1101202" y="344126"/>
                </a:lnTo>
                <a:lnTo>
                  <a:pt x="0" y="3441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5736410" y="210678"/>
            <a:ext cx="1356360" cy="289549"/>
            <a:chOff x="0" y="0"/>
            <a:chExt cx="1808480" cy="386065"/>
          </a:xfrm>
        </p:grpSpPr>
        <p:sp>
          <p:nvSpPr>
            <p:cNvPr id="16" name="Freeform 16"/>
            <p:cNvSpPr/>
            <p:nvPr/>
          </p:nvSpPr>
          <p:spPr>
            <a:xfrm>
              <a:off x="1371321" y="0"/>
              <a:ext cx="437159" cy="386065"/>
            </a:xfrm>
            <a:custGeom>
              <a:avLst/>
              <a:gdLst/>
              <a:ahLst/>
              <a:cxnLst/>
              <a:rect l="l" t="t" r="r" b="b"/>
              <a:pathLst>
                <a:path w="437159" h="386065">
                  <a:moveTo>
                    <a:pt x="0" y="0"/>
                  </a:moveTo>
                  <a:lnTo>
                    <a:pt x="437159" y="0"/>
                  </a:lnTo>
                  <a:lnTo>
                    <a:pt x="437159" y="386065"/>
                  </a:lnTo>
                  <a:lnTo>
                    <a:pt x="0" y="38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043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111175"/>
              <a:ext cx="1400755" cy="168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099"/>
                </a:lnSpc>
                <a:spcBef>
                  <a:spcPct val="0"/>
                </a:spcBef>
              </a:pPr>
              <a:r>
                <a:rPr lang="en-US" sz="78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IETE Student Forum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941" y="276210"/>
              <a:ext cx="1227269" cy="10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07"/>
                </a:lnSpc>
                <a:spcBef>
                  <a:spcPct val="0"/>
                </a:spcBef>
              </a:pPr>
              <a:r>
                <a:rPr lang="en-US" sz="433">
                  <a:solidFill>
                    <a:srgbClr val="FF914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Amrita Vishwa Vidyapeetham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35177" y="834078"/>
            <a:ext cx="1671851" cy="1671851"/>
          </a:xfrm>
          <a:custGeom>
            <a:avLst/>
            <a:gdLst/>
            <a:ahLst/>
            <a:cxnLst/>
            <a:rect l="l" t="t" r="r" b="b"/>
            <a:pathLst>
              <a:path w="1671851" h="1671851">
                <a:moveTo>
                  <a:pt x="0" y="0"/>
                </a:moveTo>
                <a:lnTo>
                  <a:pt x="1671851" y="0"/>
                </a:lnTo>
                <a:lnTo>
                  <a:pt x="1671851" y="1671851"/>
                </a:lnTo>
                <a:lnTo>
                  <a:pt x="0" y="16718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996179" y="834078"/>
            <a:ext cx="4418411" cy="1548871"/>
          </a:xfrm>
          <a:custGeom>
            <a:avLst/>
            <a:gdLst/>
            <a:ahLst/>
            <a:cxnLst/>
            <a:rect l="l" t="t" r="r" b="b"/>
            <a:pathLst>
              <a:path w="4418411" h="1548871">
                <a:moveTo>
                  <a:pt x="0" y="0"/>
                </a:moveTo>
                <a:lnTo>
                  <a:pt x="4418411" y="0"/>
                </a:lnTo>
                <a:lnTo>
                  <a:pt x="4418411" y="1548870"/>
                </a:lnTo>
                <a:lnTo>
                  <a:pt x="0" y="1548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6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39114" y="3490309"/>
            <a:ext cx="5286501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Leader Name : </a:t>
            </a:r>
            <a:r>
              <a:rPr lang="en-US" sz="214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Nikitha</a:t>
            </a: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4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Sree</a:t>
            </a: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TY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9115" y="3016074"/>
            <a:ext cx="7957185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:Novus Thinkers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9115" y="3964103"/>
            <a:ext cx="4604385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 :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39115" y="973283"/>
            <a:ext cx="4985385" cy="392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28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Brief about the Idea: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E7CC7-1559-42D2-ADCD-0C727911E004}"/>
              </a:ext>
            </a:extLst>
          </p:cNvPr>
          <p:cNvSpPr txBox="1"/>
          <p:nvPr/>
        </p:nvSpPr>
        <p:spPr>
          <a:xfrm>
            <a:off x="326707" y="1176885"/>
            <a:ext cx="96335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Gen-Health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AI-based healthcare assistance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focused on improving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understanding of medical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reports are usually written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terminology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common people cannot easily understand.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system converts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medical values into simple, human-readable explanations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strictly non-diagnostic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suggest treatment or medication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primary goal is to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literacy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maintaining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and safety boundaries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idea emphasizes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use of Generative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medical decision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11590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39115" y="973282"/>
            <a:ext cx="9023986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/>
              <a:t>Opportunity &amp; Problem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Millions of patients receive lab reports daily but </a:t>
            </a:r>
            <a:r>
              <a:rPr lang="en-US" sz="2000" b="1" dirty="0"/>
              <a:t>lack clarity about their meaning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Patients often panic or search random online sources, leading to </a:t>
            </a:r>
            <a:r>
              <a:rPr lang="en-US" sz="2000" b="1" dirty="0"/>
              <a:t>misinformation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Existing tools either: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Only display numeric ranges, 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unsafe medical advice.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How This Is Different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Focuses only on </a:t>
            </a:r>
            <a:r>
              <a:rPr lang="en-US" sz="2000" b="1" dirty="0"/>
              <a:t>explanation</a:t>
            </a:r>
            <a:r>
              <a:rPr lang="en-US" sz="2000" dirty="0"/>
              <a:t>, not diagnosis.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Uses </a:t>
            </a:r>
            <a:r>
              <a:rPr lang="en-US" sz="2000" b="1" dirty="0"/>
              <a:t>safety-bounded Generative AI</a:t>
            </a:r>
            <a:r>
              <a:rPr lang="en-US" sz="2000" dirty="0"/>
              <a:t> instead of uncontrolled chatbots.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Designed for </a:t>
            </a:r>
            <a:r>
              <a:rPr lang="en-US" sz="2000" b="1" dirty="0"/>
              <a:t>real-world deployment without legal or ethical risk</a:t>
            </a:r>
            <a:r>
              <a:rPr lang="en-US" sz="2000" dirty="0"/>
              <a:t>.</a:t>
            </a:r>
          </a:p>
          <a:p>
            <a:pPr algn="just">
              <a:lnSpc>
                <a:spcPts val="3203"/>
              </a:lnSpc>
            </a:pPr>
            <a:endParaRPr lang="en-US" sz="20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00100" y="1398325"/>
            <a:ext cx="9328786" cy="298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Problem-Solving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Converts medical terms into </a:t>
            </a:r>
            <a:r>
              <a:rPr lang="en-US" sz="2400" b="1" dirty="0"/>
              <a:t>simple, calm language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Explains: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What a test indicates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Why values may vary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Reduces fear and confusion without influencing medical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Encourages patients to consult doctors with </a:t>
            </a:r>
            <a:r>
              <a:rPr lang="en-US" sz="2400" b="1" dirty="0"/>
              <a:t>better understanding</a:t>
            </a:r>
            <a:endParaRPr lang="en-US" sz="2400" dirty="0"/>
          </a:p>
          <a:p>
            <a:pPr algn="just">
              <a:lnSpc>
                <a:spcPts val="3203"/>
              </a:lnSpc>
            </a:pPr>
            <a:endParaRPr lang="en-US" sz="2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00100" y="1215072"/>
            <a:ext cx="8947785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Unique Selling Proposition (USP)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Safety-bounded Generative AI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Explanation-only healthcare AI.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Ethical design with </a:t>
            </a:r>
            <a:r>
              <a:rPr lang="en-US" sz="3200" b="1" dirty="0"/>
              <a:t>hard constraints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Ready for real-world adoption in clinics and labs.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No regulatory or compliance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39115" y="973283"/>
            <a:ext cx="8871585" cy="3724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Plain-language explanation of medical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Normal vs abnormal interpretation without alarm.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Calm and reassuring explanation tone.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Mandatory medical disclaimer.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User-friendly web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Future scope: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Local language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PDF report upload</a:t>
            </a:r>
          </a:p>
          <a:p>
            <a:pPr algn="l">
              <a:lnSpc>
                <a:spcPts val="3203"/>
              </a:lnSpc>
            </a:pPr>
            <a:endParaRPr lang="en-US" sz="2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39115" y="973283"/>
            <a:ext cx="8301178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/>
              <a:t>Process Flow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7678C7-8AAB-4A4A-9CB9-EACD4397566F}"/>
              </a:ext>
            </a:extLst>
          </p:cNvPr>
          <p:cNvSpPr/>
          <p:nvPr/>
        </p:nvSpPr>
        <p:spPr>
          <a:xfrm>
            <a:off x="3610535" y="3835085"/>
            <a:ext cx="2893359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Patient-friendly explanation is displayed.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E257A4-4CDC-4330-B160-AF8A24B35518}"/>
              </a:ext>
            </a:extLst>
          </p:cNvPr>
          <p:cNvSpPr/>
          <p:nvPr/>
        </p:nvSpPr>
        <p:spPr>
          <a:xfrm>
            <a:off x="313114" y="3790347"/>
            <a:ext cx="2524214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Disclaimer is added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60AEDA-0E5E-4195-A0C7-5E831663B44D}"/>
              </a:ext>
            </a:extLst>
          </p:cNvPr>
          <p:cNvSpPr/>
          <p:nvPr/>
        </p:nvSpPr>
        <p:spPr>
          <a:xfrm>
            <a:off x="7277101" y="3841124"/>
            <a:ext cx="2696786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Generative AI produces explanation.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3425AD-121E-44DF-B98F-8EAD0FDCB494}"/>
              </a:ext>
            </a:extLst>
          </p:cNvPr>
          <p:cNvSpPr/>
          <p:nvPr/>
        </p:nvSpPr>
        <p:spPr>
          <a:xfrm>
            <a:off x="7277100" y="2040963"/>
            <a:ext cx="2555593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Safety rules are applied to restrict output.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ADC51A-F261-47FD-B1DF-6AE9E5C06FCB}"/>
              </a:ext>
            </a:extLst>
          </p:cNvPr>
          <p:cNvSpPr/>
          <p:nvPr/>
        </p:nvSpPr>
        <p:spPr>
          <a:xfrm>
            <a:off x="3610535" y="2068202"/>
            <a:ext cx="2555593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System extracts key medical parameters.</a:t>
            </a:r>
          </a:p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15F012-8642-45F0-8FEF-280BA087FEB8}"/>
              </a:ext>
            </a:extLst>
          </p:cNvPr>
          <p:cNvSpPr/>
          <p:nvPr/>
        </p:nvSpPr>
        <p:spPr>
          <a:xfrm>
            <a:off x="313113" y="2068202"/>
            <a:ext cx="2555593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User enters medical report values.</a:t>
            </a:r>
          </a:p>
          <a:p>
            <a:pPr algn="ctr"/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50FA8E-FEA7-40F9-ADC9-C806F171B70C}"/>
              </a:ext>
            </a:extLst>
          </p:cNvPr>
          <p:cNvCxnSpPr>
            <a:stCxn id="22" idx="3"/>
            <a:endCxn id="21" idx="1"/>
          </p:cNvCxnSpPr>
          <p:nvPr/>
        </p:nvCxnSpPr>
        <p:spPr>
          <a:xfrm>
            <a:off x="2868706" y="2487302"/>
            <a:ext cx="741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361F6B-0AA8-4F42-BBAF-456F614D80F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166128" y="2451039"/>
            <a:ext cx="1110972" cy="9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F878498-86F8-4C5C-942D-3B6E9BCE10DB}"/>
              </a:ext>
            </a:extLst>
          </p:cNvPr>
          <p:cNvCxnSpPr>
            <a:cxnSpLocks/>
          </p:cNvCxnSpPr>
          <p:nvPr/>
        </p:nvCxnSpPr>
        <p:spPr>
          <a:xfrm>
            <a:off x="8572500" y="3051849"/>
            <a:ext cx="0" cy="738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9E3111-13C3-4593-B9C9-E38C233AF606}"/>
              </a:ext>
            </a:extLst>
          </p:cNvPr>
          <p:cNvCxnSpPr>
            <a:cxnSpLocks/>
          </p:cNvCxnSpPr>
          <p:nvPr/>
        </p:nvCxnSpPr>
        <p:spPr>
          <a:xfrm flipH="1">
            <a:off x="6503894" y="4292600"/>
            <a:ext cx="773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E99CEE7-4428-45FC-BF18-DAB18DD633CC}"/>
              </a:ext>
            </a:extLst>
          </p:cNvPr>
          <p:cNvCxnSpPr>
            <a:cxnSpLocks/>
          </p:cNvCxnSpPr>
          <p:nvPr/>
        </p:nvCxnSpPr>
        <p:spPr>
          <a:xfrm flipH="1">
            <a:off x="2837329" y="4246282"/>
            <a:ext cx="773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48104" y="781617"/>
            <a:ext cx="8301178" cy="39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8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Appearance of the  Prototype 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C6785E-2BBE-4B24-BCE5-7F959BE1D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125" y="1411888"/>
            <a:ext cx="7512749" cy="3388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769124"/>
            <a:ext cx="10287000" cy="622026"/>
            <a:chOff x="0" y="0"/>
            <a:chExt cx="5169753" cy="312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312600"/>
            </a:xfrm>
            <a:custGeom>
              <a:avLst/>
              <a:gdLst/>
              <a:ahLst/>
              <a:cxnLst/>
              <a:rect l="l" t="t" r="r" b="b"/>
              <a:pathLst>
                <a:path w="5169753" h="312600">
                  <a:moveTo>
                    <a:pt x="0" y="0"/>
                  </a:moveTo>
                  <a:lnTo>
                    <a:pt x="5169753" y="0"/>
                  </a:lnTo>
                  <a:lnTo>
                    <a:pt x="5169753" y="312600"/>
                  </a:lnTo>
                  <a:lnTo>
                    <a:pt x="0" y="3126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33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7256" y="1886850"/>
            <a:ext cx="10039850" cy="114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7"/>
              </a:lnSpc>
            </a:pPr>
            <a:r>
              <a:rPr lang="en-US" sz="1152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24721" y="3259463"/>
            <a:ext cx="2837557" cy="63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Name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9991" y="3790445"/>
            <a:ext cx="1147018" cy="521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sz="309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Track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-14327"/>
            <a:ext cx="10287000" cy="1291577"/>
            <a:chOff x="0" y="0"/>
            <a:chExt cx="5169753" cy="6490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69753" cy="649085"/>
            </a:xfrm>
            <a:custGeom>
              <a:avLst/>
              <a:gdLst/>
              <a:ahLst/>
              <a:cxnLst/>
              <a:rect l="l" t="t" r="r" b="b"/>
              <a:pathLst>
                <a:path w="5169753" h="649085">
                  <a:moveTo>
                    <a:pt x="0" y="0"/>
                  </a:moveTo>
                  <a:lnTo>
                    <a:pt x="5169753" y="0"/>
                  </a:lnTo>
                  <a:lnTo>
                    <a:pt x="5169753" y="649085"/>
                  </a:lnTo>
                  <a:lnTo>
                    <a:pt x="0" y="6490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169753" cy="668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42524" y="191852"/>
            <a:ext cx="3349313" cy="879220"/>
            <a:chOff x="0" y="0"/>
            <a:chExt cx="4465751" cy="11722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166" cy="1172293"/>
            </a:xfrm>
            <a:custGeom>
              <a:avLst/>
              <a:gdLst/>
              <a:ahLst/>
              <a:cxnLst/>
              <a:rect l="l" t="t" r="r" b="b"/>
              <a:pathLst>
                <a:path w="1072166" h="1172293">
                  <a:moveTo>
                    <a:pt x="0" y="0"/>
                  </a:moveTo>
                  <a:lnTo>
                    <a:pt x="1072166" y="0"/>
                  </a:lnTo>
                  <a:lnTo>
                    <a:pt x="1072166" y="1172293"/>
                  </a:lnTo>
                  <a:lnTo>
                    <a:pt x="0" y="1172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09333" y="0"/>
              <a:ext cx="3256418" cy="1146504"/>
            </a:xfrm>
            <a:custGeom>
              <a:avLst/>
              <a:gdLst/>
              <a:ahLst/>
              <a:cxnLst/>
              <a:rect l="l" t="t" r="r" b="b"/>
              <a:pathLst>
                <a:path w="3256418" h="1146504">
                  <a:moveTo>
                    <a:pt x="0" y="0"/>
                  </a:moveTo>
                  <a:lnTo>
                    <a:pt x="3256418" y="0"/>
                  </a:lnTo>
                  <a:lnTo>
                    <a:pt x="3256418" y="1146504"/>
                  </a:lnTo>
                  <a:lnTo>
                    <a:pt x="0" y="1146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351</Words>
  <Application>Microsoft Office PowerPoint</Application>
  <PresentationFormat>Custom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Garet Bold</vt:lpstr>
      <vt:lpstr>League Spartan</vt:lpstr>
      <vt:lpstr>Montserrat</vt:lpstr>
      <vt:lpstr>Garet</vt:lpstr>
      <vt:lpstr>Calibri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AI-Verse PPT Template</dc:title>
  <dc:creator>hp</dc:creator>
  <cp:lastModifiedBy>SHREEVARSINII B - [CB.AI.U4AIM24144]</cp:lastModifiedBy>
  <cp:revision>2</cp:revision>
  <dcterms:created xsi:type="dcterms:W3CDTF">2006-08-16T00:00:00Z</dcterms:created>
  <dcterms:modified xsi:type="dcterms:W3CDTF">2025-12-31T12:26:02Z</dcterms:modified>
  <dc:identifier>DAG79ArSZVM</dc:identifier>
</cp:coreProperties>
</file>